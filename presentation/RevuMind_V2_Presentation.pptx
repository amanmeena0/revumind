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project: RevuMind V2 is an upgraded Review Intelligence Platform. It shifts from traditional text baselines to a complete 7-model deep learning and gradient boosted cascade, extracting fine-grained business insights.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shift: the platform focuses entirely on text intelligence now. We ingest raw files from the local archive directory, parsing text columns, ratings, helpfulness votes, and timestamps.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feature-based repository design. We isolate database connection setups (core/) from models, pipelines, and visualizations. Each model directory holds its training and inference wrappers.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Step 2 Preprocessing: We clean raw inputs in chunks, remove HTML/URLs/emojis, apply custom ASCII filters to keep English, and merge fields into a clean review text for downstream modeling.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core deep learning stack: RoBERTa for overall sentiment, spaCy Transformer + DeBERTa for aspect sentiment mapping, and Sentence-Transformers for semantic vector 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Outline the machine learning processes: BERTopic coordinates clusters using UMAP + HDBSCAN + c-TF-IDF. XGBoost regression models helpfulness scores from engineered tabular features (lengths, readability, sentiment).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connection: ingest_to_db.py orchestrates DB insertion. ExecutiveSummarizer runs BART to summarize review clusters, while the Insights engine generates praises, complaints, and product recommendations.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dashboard implementation: We updated dashboard.py to load real data directly from the SQLite database. It runs interactive charts, filters products dynamically, and includes a fallback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execution commands: Run init_db.py to configure schemas, run train_all.py to fit topics/helpfulness, run ingest_to_db.py to run the ML cascade and load DB rows, then launch Streamlit.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up: RevuMind V2 upgrades from classical baselines to a production 7-model NLP cascade. Future targets include multi-tenant databases, Kafka stream ingestion, RAG conversational agents, and student model compression.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548640"/>
            <a:ext cx="2926080" cy="2926080"/>
          </a:xfrm>
          <a:prstGeom prst="ellipse">
            <a:avLst/>
          </a:prstGeom>
          <a:solidFill>
            <a:srgbClr val="1F2833">
              <a:alpha val="70000"/>
            </a:srgbClr>
          </a:solidFill>
          <a:ln w="12700">
            <a:solidFill>
              <a:srgbClr val="1F28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13232"/>
            <a:ext cx="658368" cy="658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48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RevuMind V2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457200" y="16002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F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Review Intelligence Platform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&amp; Communication Engineering  |  Year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Machine Learning (V2 Upgrade)  |  Stack: PyTorch + Transformers + XGBoost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246120"/>
            <a:ext cx="3840480" cy="411480"/>
          </a:xfrm>
          <a:prstGeom prst="roundRect">
            <a:avLst>
              <a:gd name="adj" fmla="val 17778"/>
            </a:avLst>
          </a:prstGeom>
          <a:solidFill>
            <a:srgbClr val="1F2833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246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F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github.com/ananaymeena3/RevuMind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298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Goal of RevuMind V2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thousands of customer reviews into structured, actionable business insights.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Key Capabilities: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RoBERTa Overall Sentiment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spaCy TRF Named Entity Boundaries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DeBERTa Aspect-Based Polarity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XGBoost Helpfulness Regression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937760" y="1298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Ingestion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37760" y="182880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Amazon Fine Food Reviews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local dataset at archive/Reviews.csv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size: ~300MB containing 500k+ reviews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Columns (Step 1):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ProductId &amp; Score (Stars)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Summary &amp; Text (Reviews)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HelpfulnessNumerator &amp; Denominator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 (Unix Timestamp)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100% Text Intelligence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Redesigned Repository Structure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3931920" cy="3520440"/>
          </a:xfrm>
          <a:prstGeom prst="roundRect">
            <a:avLst>
              <a:gd name="adj" fmla="val 2597"/>
            </a:avLst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280160"/>
            <a:ext cx="3566160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F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revumind/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5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core/            # Database configurations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5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db/              # ORM Schemas &amp; models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5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pipeline/        # Ingestion, inference, ETL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C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preprocess.py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C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train_all.py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C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inference.py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F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models/          # Model wrappers &amp; weights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C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sentiment/ | ner/ | embeddings/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C5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absa/ | topics/ | helpfulness/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5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utils/           # Text stats &amp; readability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D5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visualization/   # Streamlit UI layers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5488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937760" y="1298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&amp; Concerns Isolation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937760" y="178308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Feature-Based Architecture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ML component (Sentiment, NER, Topic Model) is a self-contained directory containing model loading, evaluation, and weights configurations.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ingestion (preprocess.py) from model wrappers, inference orchestrators (inference.py), database connections, and dashboards.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deep learning wrappers fall back to lightweight models or rule-based heuristics to allow instant CPU-bound local debugging.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Ingestion &amp; Text Preprocessing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914400" y="1143000"/>
            <a:ext cx="914400" cy="914400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FC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856232" y="1563624"/>
            <a:ext cx="640080" cy="73152"/>
          </a:xfrm>
          <a:prstGeom prst="rect">
            <a:avLst/>
          </a:prstGeom>
          <a:solidFill>
            <a:srgbClr val="66FCF1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2240280"/>
            <a:ext cx="18288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9436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 Ingestion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" y="27432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preprocess.py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 Reviews.csv in chunks to prevent memory limits.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063240" y="1143000"/>
            <a:ext cx="914400" cy="914400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06324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FC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005072" y="1563624"/>
            <a:ext cx="640080" cy="73152"/>
          </a:xfrm>
          <a:prstGeom prst="rect">
            <a:avLst/>
          </a:prstGeom>
          <a:solidFill>
            <a:srgbClr val="66FCF1"/>
          </a:solidFill>
          <a:ln/>
        </p:spPr>
      </p:sp>
      <p:sp>
        <p:nvSpPr>
          <p:cNvPr id="14" name="Shape 11"/>
          <p:cNvSpPr/>
          <p:nvPr/>
        </p:nvSpPr>
        <p:spPr>
          <a:xfrm>
            <a:off x="2697480" y="2240280"/>
            <a:ext cx="18288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274320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Noise Stripping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743200" y="27432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 HTML tags, URLs, and strips emoji/unicode symbols.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212080" y="1143000"/>
            <a:ext cx="914400" cy="914400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21208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FC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6153912" y="1563624"/>
            <a:ext cx="640080" cy="73152"/>
          </a:xfrm>
          <a:prstGeom prst="rect">
            <a:avLst/>
          </a:prstGeom>
          <a:solidFill>
            <a:srgbClr val="66FCF1"/>
          </a:solidFill>
          <a:ln/>
        </p:spPr>
      </p:sp>
      <p:sp>
        <p:nvSpPr>
          <p:cNvPr id="20" name="Shape 17"/>
          <p:cNvSpPr/>
          <p:nvPr/>
        </p:nvSpPr>
        <p:spPr>
          <a:xfrm>
            <a:off x="4846320" y="2240280"/>
            <a:ext cx="18288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89204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 Filter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892040" y="27432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heuristic character ratio limits to isolate English reviews.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360920" y="1143000"/>
            <a:ext cx="914400" cy="914400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360920" y="1143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FC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6995160" y="2240280"/>
            <a:ext cx="18288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704088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Unified Text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040880" y="27432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Summary + Text into a clean review text format.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State-of-the-Art Deep Learning Models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393192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298448"/>
            <a:ext cx="1645920" cy="292608"/>
          </a:xfrm>
          <a:prstGeom prst="roundRect">
            <a:avLst>
              <a:gd name="adj" fmla="val 21875"/>
            </a:avLst>
          </a:prstGeom>
          <a:solidFill>
            <a:srgbClr val="1565C0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2984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Tone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168249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RoBERTa (Sentiment)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2148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classification head for positive, negative, and neutral.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6517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negation and context better than VADER rules.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1546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confidence scores for overall sentiment classification.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143000"/>
            <a:ext cx="393192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937760" y="1298448"/>
            <a:ext cx="1645920" cy="292608"/>
          </a:xfrm>
          <a:prstGeom prst="roundRect">
            <a:avLst>
              <a:gd name="adj" fmla="val 21875"/>
            </a:avLst>
          </a:prstGeom>
          <a:solidFill>
            <a:srgbClr val="6A1B9A"/>
          </a:solidFill>
          <a:ln/>
        </p:spPr>
      </p:sp>
      <p:sp>
        <p:nvSpPr>
          <p:cNvPr id="14" name="Text 11"/>
          <p:cNvSpPr/>
          <p:nvPr/>
        </p:nvSpPr>
        <p:spPr>
          <a:xfrm>
            <a:off x="4937760" y="12984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Aspect-Based Focus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937760" y="168249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spaCy TRF + DeBERTa (NER / ABSA)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937760" y="2148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Transformer extracts entity boundaries (Brands, Features).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37760" y="26517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DeBERTa ABSA evaluates sentiment for each specific aspect.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37760" y="31546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mixed sentiments (e.g., 'vivid screen but slow charging').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4370832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EEF2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0080" y="437083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Embeddings: all-MiniLM-L6-v2 maps text to 384-dimensional vectors for semantic searches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Modeling &amp; Helpfulness Prediction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7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BERTopic Modeling (Step 7)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17830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384-dimensional Sentence Embeddings.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40080" y="22860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space using UMAP projections.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0080" y="27889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data points using HDBSCAN density models.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3291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topic keywords using class-based TF-IDF.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37947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reviews to coherent feedback groups (e.g. Battery).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75488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93776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5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XGBoost Helpfulness Regressor (Step 9)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937760" y="17830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the continuous helpfulness ratio (0.0 to 1.0).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937760" y="22860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text stats (word/sentence count, character lengths).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937760" y="27889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Flesch Reading Ease &amp; Flesch-Kincaid Grade scores.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937760" y="3291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features: Sentiment score, aspect count, topic assigned.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937760" y="37947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fitted scaler and booster trees to disk.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 Ingestions, Cohort Summaries &amp; Insights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Ingestion Pipeline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78308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Pipeline: ingest_to_db.py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raw reviews, feeds them through the inference engine, and populates SQLAlchemy relational database tables.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Schemas: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products &amp; reviews (core data)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review_embeddings (384-d vectors)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entities &amp; aspect_sentiments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topics &amp; summaries (aggregations)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754880" y="114300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93776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 BART Summaries &amp; Step 10 Insights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937760" y="178308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BART Summaries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reviews by cohort (product, sentiment type, or topic cluster) and generates concise executive summaries using BART weights.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 Engine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positive praises vs. negative complaints and automatically synthesizes actionable business recommendations to resolve pain points.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Dashboard Layer (Step 11)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2560320" cy="35204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94360" y="1280160"/>
            <a:ext cx="2286000" cy="1920240"/>
          </a:xfrm>
          <a:prstGeom prst="roundRect">
            <a:avLst>
              <a:gd name="adj" fmla="val 3810"/>
            </a:avLst>
          </a:prstGeom>
          <a:solidFill>
            <a:srgbClr val="EBF5FB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1280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F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Streamlit Visualization ]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KPI Cards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review volumes, sentiment ratios, and helpfulness metrics dynamically.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143000"/>
            <a:ext cx="2560320" cy="35204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280160"/>
            <a:ext cx="2286000" cy="1920240"/>
          </a:xfrm>
          <a:prstGeom prst="roundRect">
            <a:avLst>
              <a:gd name="adj" fmla="val 3810"/>
            </a:avLst>
          </a:prstGeom>
          <a:solidFill>
            <a:srgbClr val="EBF5FB"/>
          </a:solidFill>
          <a:ln/>
        </p:spPr>
      </p:sp>
      <p:sp>
        <p:nvSpPr>
          <p:cNvPr id="12" name="Text 9"/>
          <p:cNvSpPr/>
          <p:nvPr/>
        </p:nvSpPr>
        <p:spPr>
          <a:xfrm>
            <a:off x="3429000" y="1280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F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Streamlit Visualization ]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38328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Aspect Sentiment Heatmap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38328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positive, neutral, and negative metrics across key product aspect features.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26480" y="1143000"/>
            <a:ext cx="2560320" cy="35204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63640" y="1280160"/>
            <a:ext cx="2286000" cy="1920240"/>
          </a:xfrm>
          <a:prstGeom prst="roundRect">
            <a:avLst>
              <a:gd name="adj" fmla="val 3810"/>
            </a:avLst>
          </a:prstGeom>
          <a:solidFill>
            <a:srgbClr val="EBF5FB"/>
          </a:solidFill>
          <a:ln/>
        </p:spPr>
      </p:sp>
      <p:sp>
        <p:nvSpPr>
          <p:cNvPr id="17" name="Text 14"/>
          <p:cNvSpPr/>
          <p:nvPr/>
        </p:nvSpPr>
        <p:spPr>
          <a:xfrm>
            <a:off x="6263640" y="12801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F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Streamlit Visualization ]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21792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Extractive Cohort summaries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1792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executive summary blocks generated from review cohorts.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F2833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0C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 Tech Stack &amp; Commands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457200" y="1143000"/>
            <a:ext cx="3383280" cy="35204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280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 Tech Stack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94360" y="1755648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4F6F9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7393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PyTorch &amp; Transformers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68880" y="1773936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RoBERTa, DeBERTa, BART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94360" y="2359152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4F6F9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377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spaCy &amp; regex Matchers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468880" y="23774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 entity boundary mapping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4360" y="2962656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4F6F9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298094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XGBoost &amp; Scikit-Learn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468880" y="2980944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 &amp; fallbacks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94360" y="356616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4F6F9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5844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SQLAlchemy &amp; pgvector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468880" y="358444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database schemas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94360" y="4169664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4F6F9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" y="41879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&amp; Plotly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2468880" y="4187952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 layer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023360" y="1143000"/>
            <a:ext cx="46634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206240" y="1280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Run Pipelines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206240" y="1847088"/>
            <a:ext cx="329184" cy="329184"/>
          </a:xfrm>
          <a:prstGeom prst="ellipse">
            <a:avLst/>
          </a:prstGeom>
          <a:solidFill>
            <a:srgbClr val="66FCF1"/>
          </a:solidFill>
          <a:ln/>
        </p:spPr>
      </p:sp>
      <p:sp>
        <p:nvSpPr>
          <p:cNvPr id="25" name="Text 22"/>
          <p:cNvSpPr/>
          <p:nvPr/>
        </p:nvSpPr>
        <p:spPr>
          <a:xfrm>
            <a:off x="420624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617720" y="17556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DB Tables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617720" y="2057400"/>
            <a:ext cx="3931920" cy="320040"/>
          </a:xfrm>
          <a:prstGeom prst="roundRect">
            <a:avLst>
              <a:gd name="adj" fmla="val 17143"/>
            </a:avLst>
          </a:prstGeom>
          <a:solidFill>
            <a:srgbClr val="0B0C10"/>
          </a:solidFill>
          <a:ln/>
        </p:spPr>
      </p:sp>
      <p:sp>
        <p:nvSpPr>
          <p:cNvPr id="28" name="Text 25"/>
          <p:cNvSpPr/>
          <p:nvPr/>
        </p:nvSpPr>
        <p:spPr>
          <a:xfrm>
            <a:off x="4663440" y="20574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F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revumind/db/init_db.py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206240" y="2569464"/>
            <a:ext cx="329184" cy="329184"/>
          </a:xfrm>
          <a:prstGeom prst="ellipse">
            <a:avLst/>
          </a:prstGeom>
          <a:solidFill>
            <a:srgbClr val="66FCF1"/>
          </a:solidFill>
          <a:ln/>
        </p:spPr>
      </p:sp>
      <p:sp>
        <p:nvSpPr>
          <p:cNvPr id="30" name="Text 27"/>
          <p:cNvSpPr/>
          <p:nvPr/>
        </p:nvSpPr>
        <p:spPr>
          <a:xfrm>
            <a:off x="4206240" y="2569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4617720" y="24780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Training Pipeline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617720" y="2779776"/>
            <a:ext cx="3931920" cy="320040"/>
          </a:xfrm>
          <a:prstGeom prst="roundRect">
            <a:avLst>
              <a:gd name="adj" fmla="val 17143"/>
            </a:avLst>
          </a:prstGeom>
          <a:solidFill>
            <a:srgbClr val="0B0C10"/>
          </a:solidFill>
          <a:ln/>
        </p:spPr>
      </p:sp>
      <p:sp>
        <p:nvSpPr>
          <p:cNvPr id="33" name="Text 30"/>
          <p:cNvSpPr/>
          <p:nvPr/>
        </p:nvSpPr>
        <p:spPr>
          <a:xfrm>
            <a:off x="4663440" y="277977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F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revumind/pipeline/train_all.py --sample_size 5000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206240" y="3291840"/>
            <a:ext cx="329184" cy="329184"/>
          </a:xfrm>
          <a:prstGeom prst="ellipse">
            <a:avLst/>
          </a:prstGeom>
          <a:solidFill>
            <a:srgbClr val="66FCF1"/>
          </a:solidFill>
          <a:ln/>
        </p:spPr>
      </p:sp>
      <p:sp>
        <p:nvSpPr>
          <p:cNvPr id="35" name="Text 32"/>
          <p:cNvSpPr/>
          <p:nvPr/>
        </p:nvSpPr>
        <p:spPr>
          <a:xfrm>
            <a:off x="4206240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617720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Reviews to DB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617720" y="3502152"/>
            <a:ext cx="3931920" cy="320040"/>
          </a:xfrm>
          <a:prstGeom prst="roundRect">
            <a:avLst>
              <a:gd name="adj" fmla="val 17143"/>
            </a:avLst>
          </a:prstGeom>
          <a:solidFill>
            <a:srgbClr val="0B0C10"/>
          </a:solidFill>
          <a:ln/>
        </p:spPr>
      </p:sp>
      <p:sp>
        <p:nvSpPr>
          <p:cNvPr id="38" name="Text 35"/>
          <p:cNvSpPr/>
          <p:nvPr/>
        </p:nvSpPr>
        <p:spPr>
          <a:xfrm>
            <a:off x="4663440" y="3502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F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revumind/pipeline/ingest_to_db.py --sample_size 100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206240" y="4014216"/>
            <a:ext cx="329184" cy="329184"/>
          </a:xfrm>
          <a:prstGeom prst="ellipse">
            <a:avLst/>
          </a:prstGeom>
          <a:solidFill>
            <a:srgbClr val="66FCF1"/>
          </a:solidFill>
          <a:ln/>
        </p:spPr>
      </p:sp>
      <p:sp>
        <p:nvSpPr>
          <p:cNvPr id="40" name="Text 37"/>
          <p:cNvSpPr/>
          <p:nvPr/>
        </p:nvSpPr>
        <p:spPr>
          <a:xfrm>
            <a:off x="4206240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617720" y="39227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Interactive UI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617720" y="4224528"/>
            <a:ext cx="3931920" cy="320040"/>
          </a:xfrm>
          <a:prstGeom prst="roundRect">
            <a:avLst>
              <a:gd name="adj" fmla="val 17143"/>
            </a:avLst>
          </a:prstGeom>
          <a:solidFill>
            <a:srgbClr val="0B0C10"/>
          </a:solidFill>
          <a:ln/>
        </p:spPr>
      </p:sp>
      <p:sp>
        <p:nvSpPr>
          <p:cNvPr id="43" name="Text 40"/>
          <p:cNvSpPr/>
          <p:nvPr/>
        </p:nvSpPr>
        <p:spPr>
          <a:xfrm>
            <a:off x="4663440" y="42245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FC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revumind/visualization/dashboard.py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743200"/>
            <a:ext cx="3657600" cy="3657600"/>
          </a:xfrm>
          <a:prstGeom prst="ellipse">
            <a:avLst/>
          </a:prstGeom>
          <a:solidFill>
            <a:srgbClr val="1F2833">
              <a:alpha val="60000"/>
            </a:srgbClr>
          </a:solidFill>
          <a:ln w="12700">
            <a:solidFill>
              <a:srgbClr val="1F28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66FCF1"/>
          </a:solidFill>
          <a:ln/>
          <a:effectLst>
            <a:outerShdw sx="100000" sy="100000" kx="0" ky="0" algn="bl" rotWithShape="0" blurRad="101600" dist="38100" dir="2700000">
              <a:srgbClr val="000000">
                <a:alpha val="13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530352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07008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Scalability &amp; Conclusion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FC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Scaling Path</a:t>
            </a:r>
            <a:endParaRPr lang="en-US" sz="1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00784"/>
            <a:ext cx="329184" cy="3291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32688" y="16459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Multi-Tenant isolation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932688" y="19751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database schemas to support multiple business accounts.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14016"/>
            <a:ext cx="329184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" y="23591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Distributed Streaming Pipelines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268833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Kafka + Flink to process reviews in near real-time.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127248"/>
            <a:ext cx="329184" cy="32918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32688" y="307238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Conversational RAG Agent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932688" y="34015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vector embeddings to LLMs so users can query the reviews.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840480"/>
            <a:ext cx="329184" cy="32918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32688" y="37856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Distillation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932688" y="4114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 models into student models to cut GPU hosting costs.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457200" y="45720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66FCF1">
              <a:alpha val="85000"/>
            </a:srgbClr>
          </a:solidFill>
          <a:ln/>
        </p:spPr>
      </p:sp>
      <p:sp>
        <p:nvSpPr>
          <p:cNvPr id="20" name="Text 13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RevuMind V2 provides a production-ready AI Review Intelligence system  |  PyTorch · Transformers · XGBoost · FastAPI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RevuMind V2 – AI-Powered Review Intelligence Platform</dc:title>
  <dc:subject>PptxGenJS Presentation</dc:subject>
  <dc:creator>Aman Meena</dc:creator>
  <cp:lastModifiedBy>Aman Meena</cp:lastModifiedBy>
  <cp:revision>1</cp:revision>
  <dcterms:created xsi:type="dcterms:W3CDTF">2026-06-19T13:54:44Z</dcterms:created>
  <dcterms:modified xsi:type="dcterms:W3CDTF">2026-06-19T13:54:44Z</dcterms:modified>
</cp:coreProperties>
</file>